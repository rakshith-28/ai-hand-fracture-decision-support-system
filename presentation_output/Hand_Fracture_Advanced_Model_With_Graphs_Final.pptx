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d8b25784e54912" /><Relationship Type="http://schemas.openxmlformats.org/officeDocument/2006/relationships/extended-properties" Target="/docProps/app.xml" Id="R3adc3418108a45c2" /><Relationship Type="http://schemas.openxmlformats.org/officeDocument/2006/relationships/officeDocument" Target="/ppt/presentation.xml" Id="R261d749af16245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3840a82d394f90"/>
  </p:sldMasterIdLst>
  <p:notesMasterIdLst>
    <p:notesMasterId xmlns:r="http://schemas.openxmlformats.org/officeDocument/2006/relationships" r:id="R7740aae90d704329"/>
  </p:notesMasterIdLst>
  <p:sldIdLst>
    <p:sldId xmlns:r="http://schemas.openxmlformats.org/officeDocument/2006/relationships" id="256" r:id="R113493fa3001494e"/>
    <p:sldId xmlns:r="http://schemas.openxmlformats.org/officeDocument/2006/relationships" id="257" r:id="R7f1052bac060405c"/>
    <p:sldId xmlns:r="http://schemas.openxmlformats.org/officeDocument/2006/relationships" id="258" r:id="Ra9d5125fc28b4e34"/>
    <p:sldId xmlns:r="http://schemas.openxmlformats.org/officeDocument/2006/relationships" id="259" r:id="R3125fe185d624f9c"/>
    <p:sldId xmlns:r="http://schemas.openxmlformats.org/officeDocument/2006/relationships" id="260" r:id="R4ee83d30380c4088"/>
    <p:sldId xmlns:r="http://schemas.openxmlformats.org/officeDocument/2006/relationships" id="261" r:id="R09821796a44c4feb"/>
    <p:sldId xmlns:r="http://schemas.openxmlformats.org/officeDocument/2006/relationships" id="262" r:id="R5ce8922027164945"/>
    <p:sldId xmlns:r="http://schemas.openxmlformats.org/officeDocument/2006/relationships" id="263" r:id="R5a91b232c83c433e"/>
    <p:sldId xmlns:r="http://schemas.openxmlformats.org/officeDocument/2006/relationships" id="264" r:id="R665095cb63824184"/>
    <p:sldId xmlns:r="http://schemas.openxmlformats.org/officeDocument/2006/relationships" id="265" r:id="Rd52627ba97e64ecc"/>
    <p:sldId xmlns:r="http://schemas.openxmlformats.org/officeDocument/2006/relationships" id="266" r:id="R46f3709df5c84e5e"/>
    <p:sldId xmlns:r="http://schemas.openxmlformats.org/officeDocument/2006/relationships" id="267" r:id="Re9727033c9074eb1"/>
    <p:sldId xmlns:r="http://schemas.openxmlformats.org/officeDocument/2006/relationships" id="268" r:id="R3d65e9ae0fe84c3d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48d3c151cd48f7" /><Relationship Type="http://schemas.openxmlformats.org/officeDocument/2006/relationships/slideMaster" Target="/ppt/slideMasters/slideMaster1.xml" Id="Ra13840a82d394f90" /><Relationship Type="http://schemas.openxmlformats.org/officeDocument/2006/relationships/notesMaster" Target="/ppt/notesMasters/notesMaster1.xml" Id="R7740aae90d704329" /><Relationship Type="http://schemas.openxmlformats.org/officeDocument/2006/relationships/presProps" Target="/ppt/presProps.xml" Id="Rb41a9a96fd0741b2" /><Relationship Type="http://schemas.openxmlformats.org/officeDocument/2006/relationships/viewProps" Target="/ppt/viewProps.xml" Id="Rd21604abead54699" /><Relationship Type="http://schemas.openxmlformats.org/officeDocument/2006/relationships/tableStyles" Target="/ppt/tableStyles.xml" Id="Rc612978764ba4eac" /><Relationship Type="http://schemas.openxmlformats.org/officeDocument/2006/relationships/slide" Target="/ppt/slides/slide1.xml" Id="R113493fa3001494e" /><Relationship Type="http://schemas.openxmlformats.org/officeDocument/2006/relationships/slide" Target="/ppt/slides/slide2.xml" Id="R7f1052bac060405c" /><Relationship Type="http://schemas.openxmlformats.org/officeDocument/2006/relationships/slide" Target="/ppt/slides/slide3.xml" Id="Ra9d5125fc28b4e34" /><Relationship Type="http://schemas.openxmlformats.org/officeDocument/2006/relationships/slide" Target="/ppt/slides/slide4.xml" Id="R3125fe185d624f9c" /><Relationship Type="http://schemas.openxmlformats.org/officeDocument/2006/relationships/slide" Target="/ppt/slides/slide5.xml" Id="R4ee83d30380c4088" /><Relationship Type="http://schemas.openxmlformats.org/officeDocument/2006/relationships/slide" Target="/ppt/slides/slide6.xml" Id="R09821796a44c4feb" /><Relationship Type="http://schemas.openxmlformats.org/officeDocument/2006/relationships/slide" Target="/ppt/slides/slide7.xml" Id="R5ce8922027164945" /><Relationship Type="http://schemas.openxmlformats.org/officeDocument/2006/relationships/slide" Target="/ppt/slides/slide8.xml" Id="R5a91b232c83c433e" /><Relationship Type="http://schemas.openxmlformats.org/officeDocument/2006/relationships/slide" Target="/ppt/slides/slide9.xml" Id="R665095cb63824184" /><Relationship Type="http://schemas.openxmlformats.org/officeDocument/2006/relationships/slide" Target="/ppt/slides/slide10.xml" Id="Rd52627ba97e64ecc" /><Relationship Type="http://schemas.openxmlformats.org/officeDocument/2006/relationships/slide" Target="/ppt/slides/slide11.xml" Id="R46f3709df5c84e5e" /><Relationship Type="http://schemas.openxmlformats.org/officeDocument/2006/relationships/slide" Target="/ppt/slides/slide12.xml" Id="Re9727033c9074eb1" /><Relationship Type="http://schemas.openxmlformats.org/officeDocument/2006/relationships/slide" Target="/ppt/slides/slide13.xml" Id="R3d65e9ae0fe84c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2ed8c6894a47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8c7a03d990417e" /><Relationship Type="http://schemas.openxmlformats.org/officeDocument/2006/relationships/notesMaster" Target="/ppt/notesMasters/notesMaster1.xml" Id="Ref104c0098fc43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5c737e062f4361" /><Relationship Type="http://schemas.openxmlformats.org/officeDocument/2006/relationships/notesMaster" Target="/ppt/notesMasters/notesMaster1.xml" Id="Rcc8aa37dcc664e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ab1b264d554f0c" /><Relationship Type="http://schemas.openxmlformats.org/officeDocument/2006/relationships/notesMaster" Target="/ppt/notesMasters/notesMaster1.xml" Id="Rc6404c027ace4d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6c552c910a4af1" /><Relationship Type="http://schemas.openxmlformats.org/officeDocument/2006/relationships/notesMaster" Target="/ppt/notesMasters/notesMaster1.xml" Id="R86fbccf4f5a54b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f36c8b94c54239" /><Relationship Type="http://schemas.openxmlformats.org/officeDocument/2006/relationships/notesMaster" Target="/ppt/notesMasters/notesMaster1.xml" Id="R3bef5620c9e846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284e27b9ca4a80" /><Relationship Type="http://schemas.openxmlformats.org/officeDocument/2006/relationships/notesMaster" Target="/ppt/notesMasters/notesMaster1.xml" Id="R11e59ba6e3c34a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d036c7bf314716" /><Relationship Type="http://schemas.openxmlformats.org/officeDocument/2006/relationships/notesMaster" Target="/ppt/notesMasters/notesMaster1.xml" Id="R3b86ea04c1e74d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22eef2a9a744d7" /><Relationship Type="http://schemas.openxmlformats.org/officeDocument/2006/relationships/notesMaster" Target="/ppt/notesMasters/notesMaster1.xml" Id="Rb9a216f76c9d41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26399dd94140c1" /><Relationship Type="http://schemas.openxmlformats.org/officeDocument/2006/relationships/notesMaster" Target="/ppt/notesMasters/notesMaster1.xml" Id="Rf392820b58a545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9c0dac95e4483a" /><Relationship Type="http://schemas.openxmlformats.org/officeDocument/2006/relationships/notesMaster" Target="/ppt/notesMasters/notesMaster1.xml" Id="Rfb209df99cae40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b32346b87c438e" /><Relationship Type="http://schemas.openxmlformats.org/officeDocument/2006/relationships/notesMaster" Target="/ppt/notesMasters/notesMaster1.xml" Id="R3b4d8a4bc68c43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2b135338cb4430" /><Relationship Type="http://schemas.openxmlformats.org/officeDocument/2006/relationships/notesMaster" Target="/ppt/notesMasters/notesMaster1.xml" Id="R2345822eeb944a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88ed8b777f4fc4" /><Relationship Type="http://schemas.openxmlformats.org/officeDocument/2006/relationships/notesMaster" Target="/ppt/notesMasters/notesMaster1.xml" Id="Rbffbee3f637a41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synopsis and locally completed implementation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FracAtlas local dataset and dataset.csv.</a:t>
            </a:r>
          </a:p>
          <a:p xmlns:a="http://schemas.openxmlformats.org/drawingml/2006/main">
            <a:r>
              <a:t>- Wrist Fracture - X-rays, Mendeley Data: https://data.mendeley.com/datasets/xbdsnzr8ct/1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hand_dataset.csv and image-quality inspection produced in the local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prepare_hand_dataset.py and generated split CSV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train_advanced.py in the local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model_output_advanced/test_metrics.json.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model_output_advanced/training_history.csv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model_output_advanced/training_history.csv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model_output_advanced/test_metrics.json. Rows show actual class and columns show predicted class.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model_output_balanced_before_extra_data/test_metrics.json and model_output_advanced/test_metrics.json. The models used different cleaned dataset versions, so this chart reports recorded results rather than a controlled architecture-only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preprocessing and training scripts.</a:t>
            </a:r>
          </a:p>
          <a:p xmlns:a="http://schemas.openxmlformats.org/drawingml/2006/main">
            <a:r>
              <a:t>- Original balanced test metrics and advanced model test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Conclusion based on local held-out test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a2b57b22946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6a853d13094e6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d61546747d4b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7b962702747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8b2fb54e047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79d350a85d49b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d68f97f0b4d4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55384ce18e4f1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f6a9e3b5794b0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d814a9d98c493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949a8642074ff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1E17E2-00E5-429C-8E53-FAAE0CBE3E2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2A33162-6237-419D-B73A-68B4AA22F5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E058C20-3907-46D0-9F41-5D92F304D3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4676E80-9F70-4C29-A8AA-E0FA6E5390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91A8A8-BAE4-4655-9E56-D4A300CA53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0CE5F2-C620-4639-AE27-BCB433D50B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65EDC62-254F-445A-B630-7A3ABC0E32A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DC6181-0B4C-45DB-946B-78BC74212F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866639-AFFD-49E6-9AE4-309D93B237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53A4EA-EB79-404C-9DDE-01C2A1CD66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21B9D1-133A-4817-9F89-B5A3DDDB7F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45CA7B8-3B19-491B-94D0-C12798BEE7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8B04FC9-3001-4C19-BE3D-7B617332E8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07948C9-9ACD-4AD2-BA27-E6C8A7312F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E9345AD-BAD5-4681-A2B7-F269D3835D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6C4088-A724-425B-8F56-A1C54370AD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AEE3D91-F279-471C-8047-74E0DC58000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190A0CE-FFF4-442F-AC58-36B9AF15622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ABC73FC-04CC-475E-8A4F-1CB7CB3EED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B614E85-F19B-442B-9CBB-51C77642EA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CA87887-18CE-4F7B-8854-41E274DE03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BEC2F61-DFC3-4FF0-A545-64F951CED2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5658491-3A2A-499C-99E3-42009BFAC1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D52FB1-90E5-4DC3-ABCF-60CD59142A7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C2110FA-9CA4-4B48-99DA-D641D68493E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468465C-C71F-488F-AC3A-5A3DCE8C1D5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DB7EFA8-BF4B-4E20-A606-4EAB676031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EDEC61F-7C5A-44C1-9DE0-20A1A19ED4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5056D68-4A72-4F86-A4FB-5D6AB75886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E944CB-EE38-4E13-9B1D-649E05F889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2DF9EF3-F6ED-42DD-9E51-4ECCFD14BA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EB86B6E-7379-4F88-A3B7-CC201E0B7C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8F91CE6-2063-442E-9BED-F5B1DA3DC5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CA2ADF1-FF3B-4838-8B5E-380CA00D2D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3112EB3-BC8E-4807-A59B-DAC54822A4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473006C-0F5D-4E7C-8D25-CBA93985A9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58DE35-625F-46D9-BC6D-C45A08066B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839ACDF-0FBE-4AF5-A2FE-7BDF283BE5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9931829-4D68-4138-85C0-51C3E3F021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2144027-3382-49AB-A9C8-BDBECD62C7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64A99F7-A307-4B2C-A3A2-D8BF00D033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C71045D-E4F2-48A9-A5D5-41DDA4E2E9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E41378-A9B4-4D2D-840B-C56B44981B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2BD61FB-60CC-4463-98BE-229ADC08A62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C55F838-52A4-4CC3-9CB1-6F16BF00DC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31EDC73-1828-41B3-83F7-B1E2FB5C18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F16F1B9-7C65-445B-8A83-47F1DF5051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A700EFA-D4DF-4675-910F-7E39C474BB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068901-B17F-4E52-A228-4965D2BA01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CC369FE-F783-4018-A9CD-ADABD6162F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B2CF12-B7B2-402C-B9A6-13EF290114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2A209D-0518-48A8-8801-C0F14C48C7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51616C5-CCDC-4F97-8D92-5C18D9E4C6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C652AE6-43C1-4084-B9E0-1BCB4D647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C7ADF79-FD2C-4556-B1BE-2A84B2EEE4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2E9918D-5248-4CC6-BC79-1599F15505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FB88295-B782-4C93-B43F-EC56FE2ECF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2B4273-E3C6-4225-AFE8-FC311BC384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61a9762b724184" /><Relationship Type="http://schemas.openxmlformats.org/officeDocument/2006/relationships/slideLayout" Target="/ppt/slideLayouts/slideLayout1.xml" Id="Rb7dbaa6532e84ea9" /><Relationship Type="http://schemas.openxmlformats.org/officeDocument/2006/relationships/slideLayout" Target="/ppt/slideLayouts/slideLayout2.xml" Id="R39705ab003d64fc1" /><Relationship Type="http://schemas.openxmlformats.org/officeDocument/2006/relationships/slideLayout" Target="/ppt/slideLayouts/slideLayout3.xml" Id="R15092b6b759a45f4" /><Relationship Type="http://schemas.openxmlformats.org/officeDocument/2006/relationships/slideLayout" Target="/ppt/slideLayouts/slideLayout4.xml" Id="R7a53b09903ed4857" /><Relationship Type="http://schemas.openxmlformats.org/officeDocument/2006/relationships/slideLayout" Target="/ppt/slideLayouts/slideLayout5.xml" Id="R59cee2d90a0d42c4" /><Relationship Type="http://schemas.openxmlformats.org/officeDocument/2006/relationships/slideLayout" Target="/ppt/slideLayouts/slideLayout6.xml" Id="Rf8291ccf5db745a0" /><Relationship Type="http://schemas.openxmlformats.org/officeDocument/2006/relationships/slideLayout" Target="/ppt/slideLayouts/slideLayout7.xml" Id="Red661c167ddd4b5a" /><Relationship Type="http://schemas.openxmlformats.org/officeDocument/2006/relationships/slideLayout" Target="/ppt/slideLayouts/slideLayout8.xml" Id="Rd2c5d67020d14185" /><Relationship Type="http://schemas.openxmlformats.org/officeDocument/2006/relationships/slideLayout" Target="/ppt/slideLayouts/slideLayout9.xml" Id="R976ce1b30aab4e87" /><Relationship Type="http://schemas.openxmlformats.org/officeDocument/2006/relationships/slideLayout" Target="/ppt/slideLayouts/slideLayout10.xml" Id="R451554b445234d32" /><Relationship Type="http://schemas.openxmlformats.org/officeDocument/2006/relationships/slideLayout" Target="/ppt/slideLayouts/slideLayout11.xml" Id="Rbdd1e5acdf1845f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39EE942-E5CC-4DC8-AAA4-A0CD44CEAD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01B6872-9F71-4255-AD98-98F29F60DB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99CC4F-5DBF-4B55-AAE9-034C6A5C77E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495BDB-7D56-42C7-8ECD-DFA584EB740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4785BE-34B9-4EBA-B952-7C3AE08F87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dbaa6532e84ea9"/>
    <p:sldLayoutId xmlns:r="http://schemas.openxmlformats.org/officeDocument/2006/relationships" id="2147483650" r:id="R39705ab003d64fc1"/>
    <p:sldLayoutId xmlns:r="http://schemas.openxmlformats.org/officeDocument/2006/relationships" id="2147483651" r:id="R15092b6b759a45f4"/>
    <p:sldLayoutId xmlns:r="http://schemas.openxmlformats.org/officeDocument/2006/relationships" id="2147483652" r:id="R7a53b09903ed4857"/>
    <p:sldLayoutId xmlns:r="http://schemas.openxmlformats.org/officeDocument/2006/relationships" id="2147483653" r:id="R59cee2d90a0d42c4"/>
    <p:sldLayoutId xmlns:r="http://schemas.openxmlformats.org/officeDocument/2006/relationships" id="2147483654" r:id="Rf8291ccf5db745a0"/>
    <p:sldLayoutId xmlns:r="http://schemas.openxmlformats.org/officeDocument/2006/relationships" id="2147483655" r:id="Red661c167ddd4b5a"/>
    <p:sldLayoutId xmlns:r="http://schemas.openxmlformats.org/officeDocument/2006/relationships" id="2147483656" r:id="Rd2c5d67020d14185"/>
    <p:sldLayoutId xmlns:r="http://schemas.openxmlformats.org/officeDocument/2006/relationships" id="2147483657" r:id="R976ce1b30aab4e87"/>
    <p:sldLayoutId xmlns:r="http://schemas.openxmlformats.org/officeDocument/2006/relationships" id="2147483658" r:id="R451554b445234d32"/>
    <p:sldLayoutId xmlns:r="http://schemas.openxmlformats.org/officeDocument/2006/relationships" id="2147483659" r:id="Rbdd1e5acdf1845fa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925f558a744e2f" /><Relationship Type="http://schemas.openxmlformats.org/officeDocument/2006/relationships/notesSlide" Target="/ppt/notesSlides/notesSlide1.xml" Id="Rda3bfc5b023a4d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3ee905bf2d4942" /><Relationship Type="http://schemas.openxmlformats.org/officeDocument/2006/relationships/image" Target="/ppt/media/image.jpeg" Id="R2b445d82ca424d1d" /><Relationship Type="http://schemas.openxmlformats.org/officeDocument/2006/relationships/notesSlide" Target="/ppt/notesSlides/notesSlide2.xml" Id="R558b697408c648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4eecb12c584070" /><Relationship Type="http://schemas.openxmlformats.org/officeDocument/2006/relationships/image" Target="/ppt/media/image2.jpeg" Id="Rd64f8389b27f42a8" /><Relationship Type="http://schemas.openxmlformats.org/officeDocument/2006/relationships/notesSlide" Target="/ppt/notesSlides/notesSlide3.xml" Id="R34a25c4858014a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e3eb2477194b02" /><Relationship Type="http://schemas.openxmlformats.org/officeDocument/2006/relationships/notesSlide" Target="/ppt/notesSlides/notesSlide4.xml" Id="R2c514e1058214b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75872d996264c6f" /><Relationship Type="http://schemas.openxmlformats.org/officeDocument/2006/relationships/notesSlide" Target="/ppt/notesSlides/notesSlide5.xml" Id="R93af13d013704b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1eb9d4e26984c94" /><Relationship Type="http://schemas.openxmlformats.org/officeDocument/2006/relationships/image" Target="/ppt/media/image.jpeg" Id="Ra1672d1dcd36404a" /><Relationship Type="http://schemas.openxmlformats.org/officeDocument/2006/relationships/notesSlide" Target="/ppt/notesSlides/notesSlide6.xml" Id="R2ff4308ce96440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16b2042314405e" /><Relationship Type="http://schemas.openxmlformats.org/officeDocument/2006/relationships/image" Target="/ppt/media/image3.jpeg" Id="Rab827cf665264a01" /><Relationship Type="http://schemas.openxmlformats.org/officeDocument/2006/relationships/notesSlide" Target="/ppt/notesSlides/notesSlide7.xml" Id="R27a1573273f448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907b7e58e4ed4" /><Relationship Type="http://schemas.openxmlformats.org/officeDocument/2006/relationships/image" Target="/ppt/media/image.png" Id="R1a141a8f88d345ba" /><Relationship Type="http://schemas.openxmlformats.org/officeDocument/2006/relationships/notesSlide" Target="/ppt/notesSlides/notesSlide8.xml" Id="R793f7cc1400b4c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4bc2a07ca4947" /><Relationship Type="http://schemas.openxmlformats.org/officeDocument/2006/relationships/image" Target="/ppt/media/image2.png" Id="Ra8cabf1df90a401f" /><Relationship Type="http://schemas.openxmlformats.org/officeDocument/2006/relationships/notesSlide" Target="/ppt/notesSlides/notesSlide9.xml" Id="R5136341bfb3b4a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03bff3ade4b30" /><Relationship Type="http://schemas.openxmlformats.org/officeDocument/2006/relationships/image" Target="/ppt/media/image3.png" Id="Re8fa031e1eca43e8" /><Relationship Type="http://schemas.openxmlformats.org/officeDocument/2006/relationships/notesSlide" Target="/ppt/notesSlides/notesSlide10.xml" Id="R5f851db826044b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59d08c86a46d0" /><Relationship Type="http://schemas.openxmlformats.org/officeDocument/2006/relationships/image" Target="/ppt/media/image4.png" Id="Rc90d152d03554a03" /><Relationship Type="http://schemas.openxmlformats.org/officeDocument/2006/relationships/notesSlide" Target="/ppt/notesSlides/notesSlide11.xml" Id="R9622fe17272847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6f6d10bfe94f61" /><Relationship Type="http://schemas.openxmlformats.org/officeDocument/2006/relationships/notesSlide" Target="/ppt/notesSlides/notesSlide12.xml" Id="Reb30656e2afe45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264ca0ee4346ef" /><Relationship Type="http://schemas.openxmlformats.org/officeDocument/2006/relationships/notesSlide" Target="/ppt/notesSlides/notesSlide13.xml" Id="R48d4d7779ce245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5A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E21687D-69A2-489B-A5D5-4CB4B328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085" y="2057400"/>
            <a:ext cx="6723828" cy="3046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3000" b="1">
                <a:solidFill>
                  <a:srgbClr val="FFFFFF"/>
                </a:solidFill>
              </a:defRPr>
            </a:pPr>
            <a:r>
              <a:rPr sz="3600"/>
              <a:t>AI-Based Hand Fracture Detection</a:t>
            </a:r>
            <a:endParaRPr sz="3600"/>
          </a:p>
          <a:p xmlns:a="http://schemas.openxmlformats.org/drawingml/2006/main">
            <a:pPr algn="ctr">
              <a:lnSpc>
                <a:spcPct val="110000"/>
              </a:lnSpc>
              <a:buNone/>
              <a:defRPr sz="3000" b="1">
                <a:solidFill>
                  <a:srgbClr val="FFFFFF"/>
                </a:solidFill>
              </a:defRPr>
            </a:pPr>
            <a:r>
              <a:t>Data Preparation and Advanced MobileNet Model</a:t>
            </a:r>
            <a:endParaRPr/>
          </a:p>
          <a:p xmlns:a="http://schemas.openxmlformats.org/drawingml/2006/main">
            <a:pPr algn="ctr">
              <a:buNone/>
              <a:defRPr sz="1800">
                <a:solidFill>
                  <a:srgbClr val="E6E6E6"/>
                </a:solidFill>
              </a:defRPr>
            </a:pPr>
            <a:r>
              <a:t/>
            </a:r>
            <a:endParaRPr/>
          </a:p>
          <a:p xmlns:a="http://schemas.openxmlformats.org/drawingml/2006/main">
            <a:pPr algn="ctr">
              <a:lnSpc>
                <a:spcPct val="110000"/>
              </a:lnSpc>
              <a:buNone/>
              <a:defRPr sz="1800">
                <a:solidFill>
                  <a:srgbClr val="E6E6E6"/>
                </a:solidFill>
              </a:defRPr>
            </a:pPr>
            <a:r>
              <a:t>Progress Presentation</a:t>
            </a:r>
          </a:p>
          <a:p xmlns:a="http://schemas.openxmlformats.org/drawingml/2006/main">
            <a:pPr algn="ctr">
              <a:buNone/>
              <a:defRPr sz="1800">
                <a:solidFill>
                  <a:srgbClr val="E6E6E6"/>
                </a:solidFill>
              </a:defRPr>
            </a:pPr>
            <a:r>
              <a:t/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>
                <a:solidFill>
                  <a:srgbClr val="E6E6E6"/>
                </a:solidFill>
              </a:defRPr>
            </a:pPr>
            <a:r>
              <a:t>Department of CSE, NMAMIT</a:t>
            </a:r>
          </a:p>
        </p:txBody>
      </p:sp>
    </p:spTree>
    <p:extLst>
      <p:ext uri="{BB962C8B-B14F-4D97-AF65-F5344CB8AC3E}">
        <p14:creationId xmlns:p14="http://schemas.microsoft.com/office/powerpoint/2010/main" val="13109514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992C47A-3223-43CB-A87C-36DC6942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7772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1">
                <a:solidFill>
                  <a:srgbClr val="185AA0"/>
                </a:solidFill>
              </a:defRPr>
            </a:pPr>
            <a:r>
              <a:t>Project scope and completed work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80CF795-EF3A-4BC8-8021-E70E991A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4846320" cy="4093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15000"/>
              </a:lnSpc>
              <a:spcAft>
                <a:spcPts val="10"/>
              </a:spcAft>
              <a:buChar char="•"/>
            </a:pPr>
            <a:r>
              <a:t>Goal: assist preliminary fracture assessment from hand and wrist X-rays.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10"/>
              </a:spcAft>
              <a:buChar char="•"/>
            </a:pPr>
            <a:r>
              <a:t>The dataset now combines cleaned FracAtlas images with labelled wrist X-rays.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10"/>
              </a:spcAft>
              <a:buChar char="•"/>
            </a:pPr>
            <a:r>
              <a:t>Patient-safe splitting keeps paired wrist views in one data split.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10"/>
              </a:spcAft>
              <a:buChar char="•"/>
            </a:pPr>
            <a:r>
              <a:t>The advanced MobileNet model has completed training and testing.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CAB7B15-FAE1-48C7-A277-D78E6DEB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691640"/>
            <a:ext cx="2743200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1EBF8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00" b="1"/>
            </a:pPr>
            <a:r>
              <a:t>Current Scope</a:t>
            </a:r>
          </a:p>
          <a:p xmlns:a="http://schemas.openxmlformats.org/drawingml/2006/main">
            <a:pPr>
              <a:lnSpc>
                <a:spcPct val="110000"/>
              </a:lnSpc>
              <a:buNone/>
            </a:pPr>
            <a:r>
              <a:t>Hand and Wrist Classification</a:t>
            </a:r>
          </a:p>
        </p:txBody>
      </p:sp>
      <p:pic>
        <p:nvPicPr>
          <p:cNvPr id="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45d82ca424d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0" y="1691639"/>
            <a:ext cx="3038492" cy="38199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4313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CE9FEC-52D6-42EC-9EA7-60698525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7772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1">
                <a:solidFill>
                  <a:srgbClr val="185AA0"/>
                </a:solidFill>
              </a:defRPr>
            </a:pPr>
            <a:r>
              <a:t>Two labelled sources support the final dataset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A3B01B9-5735-49AE-907C-63AB2803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4846320" cy="3693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15000"/>
              </a:lnSpc>
              <a:spcAft>
                <a:spcPts val="10"/>
              </a:spcAft>
              <a:buChar char="•"/>
            </a:pPr>
            <a:r>
              <a:t>FracAtlas supplied the original hand and upper-extremity subset.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10"/>
              </a:spcAft>
              <a:buChar char="•"/>
            </a:pPr>
            <a:r>
              <a:t>Manual review removed 41 unsuitable fractured images.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10"/>
              </a:spcAft>
              <a:buChar char="•"/>
            </a:pPr>
            <a:r>
              <a:t>The Mendeley wrist dataset added 111 fractured and 82 normal X-rays.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10"/>
              </a:spcAft>
              <a:buChar char="•"/>
            </a:pPr>
            <a:r>
              <a:t>The original source folders remain available for traceability.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8727F40-70D3-42AF-8826-781832BA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691640"/>
            <a:ext cx="2743200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1EBF8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00" b="1"/>
            </a:pPr>
            <a:r>
              <a:t>Dataset Sources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00" b="1"/>
            </a:pPr>
            <a:r>
              <a:t>FracAtlas and Mendeley</a:t>
            </a:r>
          </a:p>
        </p:txBody>
      </p:sp>
      <p:pic>
        <p:nvPicPr>
          <p:cNvPr id="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f8389b27f42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669280" y="1645920"/>
            <a:ext cx="2926080" cy="2743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9079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40861D8-C350-4C5B-8C03-2DBD12B6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7772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1">
                <a:solidFill>
                  <a:srgbClr val="185AA0"/>
                </a:solidFill>
              </a:defRPr>
            </a:pPr>
            <a:r>
              <a:t>Cleaning produced a larger, better-controlled dataset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3B85682F-5107-4346-9EFC-779D344A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49" y="192024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2F6A5E0-47AF-460A-959E-44D2F814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3474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AA0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75CA649-500C-4CFA-842F-1C2665B4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75104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>
                <a:solidFill>
                  <a:srgbClr val="FFFFFF"/>
                </a:solidFill>
              </a:defRPr>
            </a:pPr>
            <a:r>
              <a:t>Final Dataset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86EC0A-ED37-4631-8D60-7CC28A62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39" y="2423160"/>
            <a:ext cx="333475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>
                <a:solidFill>
                  <a:srgbClr val="2D2D2D"/>
                </a:solidFill>
              </a:defRPr>
            </a:pPr>
            <a:r>
              <a:t>1,690 X-ray images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0D0F493-7B7F-4A8F-A7FA-ED213B86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2024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AB08599-1A7A-49B8-9C94-D499A77B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20240"/>
            <a:ext cx="3474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AA0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0611144-A6FA-4126-B04D-A8DD4A94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75104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>
                <a:solidFill>
                  <a:srgbClr val="FFFFFF"/>
                </a:solidFill>
              </a:defRPr>
            </a:pPr>
            <a:r>
              <a:t>Class Distribution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49D86BD-3B20-4358-9980-E552D5FF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568" y="2423160"/>
            <a:ext cx="3194464" cy="56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>
                <a:solidFill>
                  <a:srgbClr val="2D2D2D"/>
                </a:solidFill>
              </a:defRPr>
            </a:pPr>
            <a:r>
              <a:t>510 fractured</a:t>
            </a:r>
            <a:endParaRPr/>
          </a:p>
          <a:p xmlns:a="http://schemas.openxmlformats.org/drawingml/2006/main">
            <a:pPr algn="ctr">
              <a:lnSpc>
                <a:spcPct val="110000"/>
              </a:lnSpc>
              <a:buNone/>
              <a:defRPr sz="1400">
                <a:solidFill>
                  <a:srgbClr val="2D2D2D"/>
                </a:solidFill>
              </a:defRPr>
            </a:pPr>
            <a:r>
              <a:t>1,180 non-fractured</a:t>
            </a: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DE33320-5479-4749-9B0B-6EA5C1FE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C7C436C-41AB-4CE4-B2BD-203848F6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3474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AA0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8006207-F0E9-4989-AC08-AD7BE8A4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12464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>
                <a:solidFill>
                  <a:srgbClr val="FFFFFF"/>
                </a:solidFill>
              </a:defRPr>
            </a:pPr>
            <a:r>
              <a:t>Manual Review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2FA1132-DC1F-464B-838E-60B03D59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160520"/>
            <a:ext cx="3200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>
                <a:solidFill>
                  <a:srgbClr val="2D2D2D"/>
                </a:solidFill>
              </a:defRPr>
            </a:pPr>
            <a:r>
              <a:t>41 unsuitable images removed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85BFBEA-8B43-492D-B1CD-79C1F71B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65760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13FFDFB-E837-4986-80DB-00C68C03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657600"/>
            <a:ext cx="3474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AA0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2527226-A460-460F-8A17-2CF9DFDD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712464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>
                <a:solidFill>
                  <a:srgbClr val="FFFFFF"/>
                </a:solidFill>
              </a:defRPr>
            </a:pPr>
            <a:r>
              <a:t>Added Wrist Data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01AC8FD-2BB8-40F0-B22C-16ED0B83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879" y="4160520"/>
            <a:ext cx="3065839" cy="56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>
                <a:solidFill>
                  <a:srgbClr val="2D2D2D"/>
                </a:solidFill>
              </a:defRPr>
            </a:pPr>
            <a:r>
              <a:t>111 fractured</a:t>
            </a:r>
            <a:endParaRPr/>
          </a:p>
          <a:p xmlns:a="http://schemas.openxmlformats.org/drawingml/2006/main">
            <a:pPr algn="ctr">
              <a:lnSpc>
                <a:spcPct val="110000"/>
              </a:lnSpc>
              <a:buNone/>
              <a:defRPr sz="1400">
                <a:solidFill>
                  <a:srgbClr val="2D2D2D"/>
                </a:solidFill>
              </a:defRPr>
            </a:pPr>
            <a:r>
              <a:t>82 normal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283415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40861D8-C350-4C5B-8C03-2DBD12B6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7772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1">
                <a:solidFill>
                  <a:srgbClr val="185AA0"/>
                </a:solidFill>
              </a:defRPr>
            </a:pPr>
            <a:r>
              <a:t>Preparation created reproducible patient-safe splits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3B85682F-5107-4346-9EFC-779D344A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49" y="192024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2F6A5E0-47AF-460A-959E-44D2F814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3474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AA0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75CA649-500C-4CFA-842F-1C2665B4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75104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>
                <a:solidFill>
                  <a:srgbClr val="FFFFFF"/>
                </a:solidFill>
              </a:defRPr>
            </a:pPr>
            <a:r>
              <a:t>Standardization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86EC0A-ED37-4631-8D60-7CC28A62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39" y="2423160"/>
            <a:ext cx="3334759" cy="56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>
                <a:solidFill>
                  <a:srgbClr val="2D2D2D"/>
                </a:solidFill>
              </a:defRPr>
            </a:pPr>
            <a:r>
              <a:t>Grayscale</a:t>
            </a:r>
            <a:endParaRPr/>
          </a:p>
          <a:p xmlns:a="http://schemas.openxmlformats.org/drawingml/2006/main">
            <a:pPr algn="ctr">
              <a:lnSpc>
                <a:spcPct val="110000"/>
              </a:lnSpc>
              <a:buNone/>
              <a:defRPr sz="1400">
                <a:solidFill>
                  <a:srgbClr val="2D2D2D"/>
                </a:solidFill>
              </a:defRPr>
            </a:pPr>
            <a:r>
              <a:t>224 × 224 pixels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0D0F493-7B7F-4A8F-A7FA-ED213B86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2024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AB08599-1A7A-49B8-9C94-D499A77B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20240"/>
            <a:ext cx="3474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AA0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0611144-A6FA-4126-B04D-A8DD4A94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75104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>
                <a:solidFill>
                  <a:srgbClr val="FFFFFF"/>
                </a:solidFill>
              </a:defRPr>
            </a:pPr>
            <a:r>
              <a:t>Patient-Safe Split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49D86BD-3B20-4358-9980-E552D5FF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568" y="2423160"/>
            <a:ext cx="3194464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>
                <a:solidFill>
                  <a:srgbClr val="2D2D2D"/>
                </a:solidFill>
              </a:defRPr>
            </a:pPr>
            <a:r>
              <a:t>Paired A and L views kept together</a:t>
            </a: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DE33320-5479-4749-9B0B-6EA5C1FE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C7C436C-41AB-4CE4-B2BD-203848F6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3474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AA0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8006207-F0E9-4989-AC08-AD7BE8A4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12464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>
                <a:solidFill>
                  <a:srgbClr val="FFFFFF"/>
                </a:solidFill>
              </a:defRPr>
            </a:pPr>
            <a:r>
              <a:t>Training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2FA1132-DC1F-464B-838E-60B03D59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160520"/>
            <a:ext cx="3200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>
                <a:solidFill>
                  <a:srgbClr val="2D2D2D"/>
                </a:solidFill>
              </a:defRPr>
            </a:pPr>
            <a:r>
              <a:t>1,182 images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85BFBEA-8B43-492D-B1CD-79C1F71B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65760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13FFDFB-E837-4986-80DB-00C68C03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657600"/>
            <a:ext cx="3474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AA0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2527226-A460-460F-8A17-2CF9DFDD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712464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>
                <a:solidFill>
                  <a:srgbClr val="FFFFFF"/>
                </a:solidFill>
              </a:defRPr>
            </a:pPr>
            <a:r>
              <a:t>Validation and Test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01AC8FD-2BB8-40F0-B22C-16ED0B83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879" y="4160520"/>
            <a:ext cx="3065839" cy="56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>
                <a:solidFill>
                  <a:srgbClr val="2D2D2D"/>
                </a:solidFill>
              </a:defRPr>
            </a:pPr>
            <a:r>
              <a:t>254 validation</a:t>
            </a:r>
            <a:endParaRPr/>
          </a:p>
          <a:p xmlns:a="http://schemas.openxmlformats.org/drawingml/2006/main">
            <a:pPr algn="ctr">
              <a:lnSpc>
                <a:spcPct val="110000"/>
              </a:lnSpc>
              <a:buNone/>
              <a:defRPr sz="1400">
                <a:solidFill>
                  <a:srgbClr val="2D2D2D"/>
                </a:solidFill>
              </a:defRPr>
            </a:pPr>
            <a:r>
              <a:t>254 test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283415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992C47A-3223-43CB-A87C-36DC6942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7772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1">
                <a:solidFill>
                  <a:srgbClr val="185AA0"/>
                </a:solidFill>
              </a:defRPr>
            </a:pPr>
            <a:r>
              <a:t>Advanced MobileNetV3 training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80CF795-EF3A-4BC8-8021-E70E991A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4846320" cy="4093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15000"/>
              </a:lnSpc>
              <a:spcAft>
                <a:spcPts val="10"/>
              </a:spcAft>
              <a:buChar char="•"/>
            </a:pPr>
            <a:r>
              <a:t>MobileNetV3-Large started with pretrained image features.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10"/>
              </a:spcAft>
              <a:buChar char="•"/>
            </a:pPr>
            <a:r>
              <a:t>The final six feature blocks were fine-tuned at a low learning rate.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10"/>
              </a:spcAft>
              <a:buChar char="•"/>
            </a:pPr>
            <a:r>
              <a:t>Balanced sampling and controlled augmentation addressed class imbalance.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10"/>
              </a:spcAft>
              <a:buChar char="•"/>
            </a:pPr>
            <a:r>
              <a:t>Learning-rate scheduling and validation F1 selected the best checkpoint.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CAB7B15-FAE1-48C7-A277-D78E6DEB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691640"/>
            <a:ext cx="2743200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1EBF8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00" b="1"/>
            </a:pPr>
            <a:r>
              <a:t>Advanced Model</a:t>
            </a:r>
          </a:p>
          <a:p xmlns:a="http://schemas.openxmlformats.org/drawingml/2006/main">
            <a:pPr>
              <a:lnSpc>
                <a:spcPct val="110000"/>
              </a:lnSpc>
              <a:buNone/>
            </a:pPr>
            <a:r>
              <a:t>15 Epochs Maximum</a:t>
            </a:r>
          </a:p>
        </p:txBody>
      </p:sp>
      <p:pic>
        <p:nvPicPr>
          <p:cNvPr id="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72d1dcd3640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0" y="1691639"/>
            <a:ext cx="3038492" cy="38199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431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D1F916B-E0C2-4B1D-A941-9B12F20F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7772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1">
                <a:solidFill>
                  <a:srgbClr val="185AA0"/>
                </a:solidFill>
              </a:defRPr>
            </a:pPr>
            <a:r>
              <a:t>Advanced MobileNet improved overall test performance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3405450-8E5A-4059-9508-9DE31F92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4846320" cy="3477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15000"/>
              </a:lnSpc>
              <a:spcAft>
                <a:spcPts val="10"/>
              </a:spcAft>
              <a:buChar char="•"/>
            </a:pPr>
            <a:r>
              <a:t>Test accuracy: 87.80%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10"/>
              </a:spcAft>
              <a:buChar char="•"/>
            </a:pPr>
            <a:r>
              <a:t>Fracture precision: 87.10%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10"/>
              </a:spcAft>
              <a:buChar char="•"/>
            </a:pPr>
            <a:r>
              <a:t>Fracture recall: 70.13%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10"/>
              </a:spcAft>
              <a:buChar char="•"/>
            </a:pPr>
            <a:r>
              <a:t>Fracture F1-score: 77.70%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10"/>
              </a:spcAft>
              <a:buChar char="•"/>
            </a:pPr>
            <a:r>
              <a:t>54 of 77 fractures detected. 23 fractures were missed.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10"/>
              </a:spcAft>
              <a:buChar char="•"/>
            </a:pPr>
            <a:r>
              <a:t>169 of 177 non-fractures were correct. 8 false alarms occurred.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5CDE47ED-E80B-4351-B11C-D49B469C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691640"/>
            <a:ext cx="2743200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1EBF8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00" b="1"/>
            </a:pPr>
            <a:r>
              <a:t>Best Checkpoint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00" b="1"/>
            </a:pPr>
            <a:r>
              <a:t>Epoch 15</a:t>
            </a:r>
          </a:p>
        </p:txBody>
      </p:sp>
      <p:pic>
        <p:nvPicPr>
          <p:cNvPr id="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27cf665264a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0" y="1645920"/>
            <a:ext cx="3108960" cy="29260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6800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246DA-2AB5-48F8-908D-342718B2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7200"/>
            <a:ext cx="7867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F5FA7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F5FA7"/>
                </a:solidFill>
                <a:latin typeface="Calibri"/>
                <a:ea typeface="Calibri"/>
                <a:cs typeface="Calibri"/>
              </a:rPr>
              <a:t>Training and validation accuracy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4E19C-F25F-40E8-BAC1-0887962F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84201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41a8f88d345ba"/>
          <a:stretch xmlns:a="http://schemas.openxmlformats.org/drawingml/2006/main"/>
        </p:blipFill>
        <p:spPr>
          <a:xfrm xmlns:a="http://schemas.openxmlformats.org/drawingml/2006/main">
            <a:off x="476250" y="951271"/>
            <a:ext cx="8191500" cy="49745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613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B33E1-1214-4253-885D-1C538E2E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7200"/>
            <a:ext cx="7867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F5FA7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F5FA7"/>
                </a:solidFill>
                <a:latin typeface="Calibri"/>
                <a:ea typeface="Calibri"/>
                <a:cs typeface="Calibri"/>
              </a:rPr>
              <a:t>Training and validation error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9FC44-663F-415D-8B66-725AFFBA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84201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abf1df90a401f"/>
          <a:stretch xmlns:a="http://schemas.openxmlformats.org/drawingml/2006/main"/>
        </p:blipFill>
        <p:spPr>
          <a:xfrm xmlns:a="http://schemas.openxmlformats.org/drawingml/2006/main">
            <a:off x="476250" y="951271"/>
            <a:ext cx="8191500" cy="49745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8508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75A5A-1BF7-4E4E-90EE-2182BD7F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7200"/>
            <a:ext cx="7867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F5FA7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F5FA7"/>
                </a:solidFill>
                <a:latin typeface="Calibri"/>
                <a:ea typeface="Calibri"/>
                <a:cs typeface="Calibri"/>
              </a:rPr>
              <a:t>Advanced model confusion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0B08F-2AE4-4CCD-88D8-6C1BEA83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91125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54 fractures detected, 23 missed, 8 false alarms, and 169 correct non-fracture predictions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CF52E-A14A-42D8-B8B8-60700604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84201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a031e1eca43e8"/>
          <a:stretch xmlns:a="http://schemas.openxmlformats.org/drawingml/2006/main"/>
        </p:blipFill>
        <p:spPr>
          <a:xfrm xmlns:a="http://schemas.openxmlformats.org/drawingml/2006/main">
            <a:off x="1227325" y="400050"/>
            <a:ext cx="6689351" cy="5695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606D3-4F16-4AF6-93C9-15ECCD30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5315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54 fractures detected, 23 missed, 8 false alarms, and 169 correct non-fracture predictions</a:t>
            </a:r>
          </a:p>
        </p:txBody>
      </p:sp>
    </p:spTree>
    <p:extLst>
      <p:ext uri="{BB962C8B-B14F-4D97-AF65-F5344CB8AC3E}">
        <p14:creationId xmlns:p14="http://schemas.microsoft.com/office/powerpoint/2010/main" val="17407811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DD070-E171-4E19-A594-0CFC7A1E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7200"/>
            <a:ext cx="7867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F5FA7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F5FA7"/>
                </a:solidFill>
                <a:latin typeface="Calibri"/>
                <a:ea typeface="Calibri"/>
                <a:cs typeface="Calibri"/>
              </a:rPr>
              <a:t>Recorded model test metric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34719-B3EE-4D46-9A12-45E70EF3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84201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d152d03554a03"/>
          <a:stretch xmlns:a="http://schemas.openxmlformats.org/drawingml/2006/main"/>
        </p:blipFill>
        <p:spPr>
          <a:xfrm xmlns:a="http://schemas.openxmlformats.org/drawingml/2006/main">
            <a:off x="476250" y="1079947"/>
            <a:ext cx="8191500" cy="47171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3403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40861D8-C350-4C5B-8C03-2DBD12B6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7772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1">
                <a:solidFill>
                  <a:srgbClr val="185AA0"/>
                </a:solidFill>
              </a:defRPr>
            </a:pPr>
            <a:r>
              <a:t>Improvements made after the first balanced model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3B85682F-5107-4346-9EFC-779D344A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49" y="192024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2F6A5E0-47AF-460A-959E-44D2F814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3474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AA0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75CA649-500C-4CFA-842F-1C2665B4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75104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>
                <a:solidFill>
                  <a:srgbClr val="FFFFFF"/>
                </a:solidFill>
              </a:defRPr>
            </a:pPr>
            <a:r>
              <a:t>Dataset Quality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86EC0A-ED37-4631-8D60-7CC28A62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39" y="2423160"/>
            <a:ext cx="3334759" cy="56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>
                <a:solidFill>
                  <a:srgbClr val="2D2D2D"/>
                </a:solidFill>
              </a:defRPr>
            </a:pPr>
            <a:r>
              <a:t>Removed 41 unsuitable images</a:t>
            </a:r>
            <a:endParaRPr/>
          </a:p>
          <a:p xmlns:a="http://schemas.openxmlformats.org/drawingml/2006/main">
            <a:pPr algn="ctr">
              <a:lnSpc>
                <a:spcPct val="110000"/>
              </a:lnSpc>
              <a:buNone/>
              <a:defRPr sz="1400">
                <a:solidFill>
                  <a:srgbClr val="2D2D2D"/>
                </a:solidFill>
              </a:defRPr>
            </a:pPr>
            <a:r>
              <a:t>Added both fracture and normal wrist data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0D0F493-7B7F-4A8F-A7FA-ED213B86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2024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AB08599-1A7A-49B8-9C94-D499A77B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20240"/>
            <a:ext cx="3474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AA0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0611144-A6FA-4126-B04D-A8DD4A94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75104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>
                <a:solidFill>
                  <a:srgbClr val="FFFFFF"/>
                </a:solidFill>
              </a:defRPr>
            </a:pPr>
            <a:r>
              <a:t>Safer Evaluation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49D86BD-3B20-4358-9980-E552D5FF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568" y="2423160"/>
            <a:ext cx="3194464" cy="56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>
                <a:solidFill>
                  <a:srgbClr val="2D2D2D"/>
                </a:solidFill>
              </a:defRPr>
            </a:pPr>
            <a:r>
              <a:t>Kept paired patient views</a:t>
            </a:r>
            <a:endParaRPr/>
          </a:p>
          <a:p xmlns:a="http://schemas.openxmlformats.org/drawingml/2006/main">
            <a:pPr algn="ctr">
              <a:lnSpc>
                <a:spcPct val="110000"/>
              </a:lnSpc>
              <a:buNone/>
              <a:defRPr sz="1400">
                <a:solidFill>
                  <a:srgbClr val="2D2D2D"/>
                </a:solidFill>
              </a:defRPr>
            </a:pPr>
            <a:r>
              <a:t>in the same split</a:t>
            </a: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DE33320-5479-4749-9B0B-6EA5C1FE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C7C436C-41AB-4CE4-B2BD-203848F6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3474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AA0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8006207-F0E9-4989-AC08-AD7BE8A4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12464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>
                <a:solidFill>
                  <a:srgbClr val="FFFFFF"/>
                </a:solidFill>
              </a:defRPr>
            </a:pPr>
            <a:r>
              <a:t>Model Changes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2FA1132-DC1F-464B-838E-60B03D59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160520"/>
            <a:ext cx="3200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>
                <a:solidFill>
                  <a:srgbClr val="2D2D2D"/>
                </a:solidFill>
              </a:defRPr>
            </a:pPr>
            <a:r>
              <a:t>MobileNetV3-Small to Large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00">
                <a:solidFill>
                  <a:srgbClr val="2D2D2D"/>
                </a:solidFill>
              </a:defRPr>
            </a:pPr>
            <a:r>
              <a:t>8 epochs to 15 epochs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85BFBEA-8B43-492D-B1CD-79C1F71B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65760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13FFDFB-E837-4986-80DB-00C68C03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657600"/>
            <a:ext cx="3474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AA0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2527226-A460-460F-8A17-2CF9DFDD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712464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>
                <a:solidFill>
                  <a:srgbClr val="FFFFFF"/>
                </a:solidFill>
              </a:defRPr>
            </a:pPr>
            <a:r>
              <a:t>Measured Improvement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01AC8FD-2BB8-40F0-B22C-16ED0B83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879" y="4160520"/>
            <a:ext cx="3065839" cy="56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>
                <a:solidFill>
                  <a:srgbClr val="2D2D2D"/>
                </a:solidFill>
              </a:defRPr>
            </a:pPr>
            <a:r>
              <a:t>Accuracy: 79.57% to 87.80%</a:t>
            </a:r>
            <a:endParaRPr/>
          </a:p>
          <a:p xmlns:a="http://schemas.openxmlformats.org/drawingml/2006/main">
            <a:pPr algn="ctr">
              <a:lnSpc>
                <a:spcPct val="110000"/>
              </a:lnSpc>
              <a:buNone/>
              <a:defRPr sz="1400">
                <a:solidFill>
                  <a:srgbClr val="2D2D2D"/>
                </a:solidFill>
              </a:defRPr>
            </a:pPr>
            <a:r>
              <a:t>F1-score: 61.79% to 77.70%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283415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85A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E21687D-69A2-489B-A5D5-4CB4B328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085" y="2057400"/>
            <a:ext cx="6723828" cy="3046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FFFFFF"/>
                </a:solidFill>
              </a:defRPr>
            </a:pPr>
            <a:r>
              <a:rPr sz="3600"/>
              <a:t>Conclusion</a:t>
            </a:r>
            <a:endParaRPr sz="3600"/>
          </a:p>
          <a:p xmlns:a="http://schemas.openxmlformats.org/drawingml/2006/main">
            <a:pPr algn="ctr">
              <a:buNone/>
              <a:defRPr sz="3000" b="1">
                <a:solidFill>
                  <a:srgbClr val="FFFFFF"/>
                </a:solidFill>
              </a:defRPr>
            </a:pPr>
            <a:r>
              <a:t/>
            </a:r>
            <a:endParaRPr/>
          </a:p>
          <a:p xmlns:a="http://schemas.openxmlformats.org/drawingml/2006/main">
            <a:pPr algn="ctr">
              <a:lnSpc>
                <a:spcPct val="115000"/>
              </a:lnSpc>
              <a:buNone/>
              <a:defRPr sz="1800">
                <a:solidFill>
                  <a:srgbClr val="E6E6E6"/>
                </a:solidFill>
              </a:defRPr>
            </a:pPr>
            <a:r>
              <a:t>The advanced model reached 87.80% test accuracy</a:t>
            </a:r>
            <a:endParaRPr/>
          </a:p>
          <a:p xmlns:a="http://schemas.openxmlformats.org/drawingml/2006/main">
            <a:pPr algn="ctr">
              <a:lnSpc>
                <a:spcPct val="115000"/>
              </a:lnSpc>
              <a:buNone/>
              <a:defRPr sz="1800">
                <a:solidFill>
                  <a:srgbClr val="E6E6E6"/>
                </a:solidFill>
              </a:defRPr>
            </a:pPr>
            <a:r>
              <a:t>and a 77.70% fracture F1-score</a:t>
            </a:r>
          </a:p>
          <a:p xmlns:a="http://schemas.openxmlformats.org/drawingml/2006/main">
            <a:pPr algn="ctr">
              <a:buNone/>
              <a:defRPr sz="1800">
                <a:solidFill>
                  <a:srgbClr val="E6E6E6"/>
                </a:solidFill>
              </a:defRPr>
            </a:pPr>
            <a:r>
              <a:t/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800">
                <a:solidFill>
                  <a:srgbClr val="E6E6E6"/>
                </a:solidFill>
              </a:defRPr>
            </a:pPr>
            <a:r>
              <a:t>Next: reduce missed fractures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800">
                <a:solidFill>
                  <a:srgbClr val="E6E6E6"/>
                </a:solidFill>
              </a:defRPr>
            </a:pPr>
            <a:r>
              <a:t>and validate on an independent clinical dataset</a:t>
            </a:r>
          </a:p>
        </p:txBody>
      </p:sp>
    </p:spTree>
    <p:extLst>
      <p:ext uri="{BB962C8B-B14F-4D97-AF65-F5344CB8AC3E}">
        <p14:creationId xmlns:p14="http://schemas.microsoft.com/office/powerpoint/2010/main" val="131095148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2026-09-07T02:16:11.3410000Z</dcterms:created>
  <dcterms:modified xsi:type="dcterms:W3CDTF">2026-09-07T02:16:11.3410000Z</dcterms:modified>
</coreProperties>
</file>