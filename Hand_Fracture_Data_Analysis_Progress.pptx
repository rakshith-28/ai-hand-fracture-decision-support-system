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1214a07444842" /><Relationship Type="http://schemas.openxmlformats.org/officeDocument/2006/relationships/extended-properties" Target="/docProps/app.xml" Id="Rd0da4447d93d49b5" /><Relationship Type="http://schemas.openxmlformats.org/officeDocument/2006/relationships/officeDocument" Target="/ppt/presentation.xml" Id="R1b9472fe570840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9c413dd68447f"/>
  </p:sldMasterIdLst>
  <p:notesMasterIdLst>
    <p:notesMasterId xmlns:r="http://schemas.openxmlformats.org/officeDocument/2006/relationships" r:id="Re0917f039bad4549"/>
  </p:notesMasterIdLst>
  <p:sldIdLst>
    <p:sldId xmlns:r="http://schemas.openxmlformats.org/officeDocument/2006/relationships" id="256" r:id="Rc4214f4eed444cab"/>
    <p:sldId xmlns:r="http://schemas.openxmlformats.org/officeDocument/2006/relationships" id="257" r:id="R274a3285a60b4009"/>
    <p:sldId xmlns:r="http://schemas.openxmlformats.org/officeDocument/2006/relationships" id="258" r:id="Rad26c5df40db40e7"/>
    <p:sldId xmlns:r="http://schemas.openxmlformats.org/officeDocument/2006/relationships" id="259" r:id="R7cc067ee713f451b"/>
    <p:sldId xmlns:r="http://schemas.openxmlformats.org/officeDocument/2006/relationships" id="260" r:id="Rfd251a5f5ba744d9"/>
    <p:sldId xmlns:r="http://schemas.openxmlformats.org/officeDocument/2006/relationships" id="261" r:id="Re043a7f476b645f3"/>
    <p:sldId xmlns:r="http://schemas.openxmlformats.org/officeDocument/2006/relationships" id="262" r:id="R93a199e7e7954e5e"/>
    <p:sldId xmlns:r="http://schemas.openxmlformats.org/officeDocument/2006/relationships" id="263" r:id="Rafb32ca86040454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c9859c3724347" /><Relationship Type="http://schemas.openxmlformats.org/officeDocument/2006/relationships/slideMaster" Target="/ppt/slideMasters/slideMaster1.xml" Id="R6da9c413dd68447f" /><Relationship Type="http://schemas.openxmlformats.org/officeDocument/2006/relationships/notesMaster" Target="/ppt/notesMasters/notesMaster1.xml" Id="Re0917f039bad4549" /><Relationship Type="http://schemas.openxmlformats.org/officeDocument/2006/relationships/presProps" Target="/ppt/presProps.xml" Id="Ra61c6b6fd4f44e2e" /><Relationship Type="http://schemas.openxmlformats.org/officeDocument/2006/relationships/viewProps" Target="/ppt/viewProps.xml" Id="Re0c9e32d6a6a4036" /><Relationship Type="http://schemas.openxmlformats.org/officeDocument/2006/relationships/tableStyles" Target="/ppt/tableStyles.xml" Id="Rf8d443f809a64a51" /><Relationship Type="http://schemas.openxmlformats.org/officeDocument/2006/relationships/slide" Target="/ppt/slides/slide1.xml" Id="Rc4214f4eed444cab" /><Relationship Type="http://schemas.openxmlformats.org/officeDocument/2006/relationships/slide" Target="/ppt/slides/slide2.xml" Id="R274a3285a60b4009" /><Relationship Type="http://schemas.openxmlformats.org/officeDocument/2006/relationships/slide" Target="/ppt/slides/slide3.xml" Id="Rad26c5df40db40e7" /><Relationship Type="http://schemas.openxmlformats.org/officeDocument/2006/relationships/slide" Target="/ppt/slides/slide4.xml" Id="R7cc067ee713f451b" /><Relationship Type="http://schemas.openxmlformats.org/officeDocument/2006/relationships/slide" Target="/ppt/slides/slide5.xml" Id="Rfd251a5f5ba744d9" /><Relationship Type="http://schemas.openxmlformats.org/officeDocument/2006/relationships/slide" Target="/ppt/slides/slide6.xml" Id="Re043a7f476b645f3" /><Relationship Type="http://schemas.openxmlformats.org/officeDocument/2006/relationships/slide" Target="/ppt/slides/slide7.xml" Id="R93a199e7e7954e5e" /><Relationship Type="http://schemas.openxmlformats.org/officeDocument/2006/relationships/slide" Target="/ppt/slides/slide8.xml" Id="Rafb32ca86040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039a4345c40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13da9f69d04f71" /><Relationship Type="http://schemas.openxmlformats.org/officeDocument/2006/relationships/notesMaster" Target="/ppt/notesMasters/notesMaster1.xml" Id="R4ea6e5007cd648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6765a0d4604db3" /><Relationship Type="http://schemas.openxmlformats.org/officeDocument/2006/relationships/notesMaster" Target="/ppt/notesMasters/notesMaster1.xml" Id="Rbb212593ac95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80c9bc0cf4802" /><Relationship Type="http://schemas.openxmlformats.org/officeDocument/2006/relationships/notesMaster" Target="/ppt/notesMasters/notesMaster1.xml" Id="Rb72cd58458fc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faefb766e74b77" /><Relationship Type="http://schemas.openxmlformats.org/officeDocument/2006/relationships/notesMaster" Target="/ppt/notesMasters/notesMaster1.xml" Id="Rc1df99e6295c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619ab8042c48a4" /><Relationship Type="http://schemas.openxmlformats.org/officeDocument/2006/relationships/notesMaster" Target="/ppt/notesMasters/notesMaster1.xml" Id="R2e17432c365a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4212b2d37f4cc4" /><Relationship Type="http://schemas.openxmlformats.org/officeDocument/2006/relationships/notesMaster" Target="/ppt/notesMasters/notesMaster1.xml" Id="Rfd5f32109676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ec64f775b4b97" /><Relationship Type="http://schemas.openxmlformats.org/officeDocument/2006/relationships/notesMaster" Target="/ppt/notesMasters/notesMaster1.xml" Id="Rd4188401d37b40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d9be094c3443cd" /><Relationship Type="http://schemas.openxmlformats.org/officeDocument/2006/relationships/notesMaster" Target="/ppt/notesMasters/notesMaster1.xml" Id="Rbd84e2e0c34a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synopsis and locally completed implementation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FracAtlas dataset.csv (local project copy).</a:t>
            </a:r>
          </a:p>
          <a:p xmlns:a="http://schemas.openxmlformats.org/drawingml/2006/main">
            <a:r>
              <a:t>- https://figshare.com/articles/dataset/The_dataset/22363012</a:t>
            </a:r>
          </a:p>
          <a:p xmlns:a="http://schemas.openxmlformats.org/drawingml/2006/main">
            <a:r>
              <a:t>- Image asset: FracAtlas IMG0000319.jpg.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hand_dataset.csv and image-quality inspection produced in the local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prepare_hand_dataset.py and hand_dataset_prepared split CSV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train_balanced.py in the local project.</a:t>
            </a:r>
          </a:p>
          <a:p xmlns:a="http://schemas.openxmlformats.org/drawingml/2006/main">
            <a:r>
              <a:t>- Existing hand X-ray comparison visual preserved from the synopsis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model_output/corrected_test_metrics.json (unbalanced baseline).</a:t>
            </a:r>
          </a:p>
          <a:p xmlns:a="http://schemas.openxmlformats.org/drawingml/2006/main">
            <a:r>
              <a:t>- model_output_balanced/test_metrics.json (balanced model).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Conclusion derived from the local test-set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23c529a574c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c18d3faa348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ba3625bc642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359cb796645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b8453440448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b47d060b64c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e56ba592047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0bb3913c849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4b0d6939448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fb134cd6c42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8f7a25d2e4f4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1E17E2-00E5-429C-8E53-FAAE0CBE3E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A33162-6237-419D-B73A-68B4AA22F5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E058C20-3907-46D0-9F41-5D92F304D3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676E80-9F70-4C29-A8AA-E0FA6E5390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1A8A8-BAE4-4655-9E56-D4A300CA53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0CE5F2-C620-4639-AE27-BCB433D50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5EDC62-254F-445A-B630-7A3ABC0E32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DC6181-0B4C-45DB-946B-78BC74212F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866639-AFFD-49E6-9AE4-309D93B237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53A4EA-EB79-404C-9DDE-01C2A1CD6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21B9D1-133A-4817-9F89-B5A3DDDB7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5CA7B8-3B19-491B-94D0-C12798BEE7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B04FC9-3001-4C19-BE3D-7B617332E8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7948C9-9ACD-4AD2-BA27-E6C8A7312F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9345AD-BAD5-4681-A2B7-F269D3835D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C4088-A724-425B-8F56-A1C54370AD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EE3D91-F279-471C-8047-74E0DC5800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90A0CE-FFF4-442F-AC58-36B9AF1562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ABC73FC-04CC-475E-8A4F-1CB7CB3EED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B614E85-F19B-442B-9CBB-51C77642EA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A87887-18CE-4F7B-8854-41E274DE03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EC2F61-DFC3-4FF0-A545-64F951CED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658491-3A2A-499C-99E3-42009BFA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D52FB1-90E5-4DC3-ABCF-60CD59142A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C2110FA-9CA4-4B48-99DA-D641D68493E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468465C-C71F-488F-AC3A-5A3DCE8C1D5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DB7EFA8-BF4B-4E20-A606-4EAB676031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EDEC61F-7C5A-44C1-9DE0-20A1A19ED4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5056D68-4A72-4F86-A4FB-5D6AB7588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E944CB-EE38-4E13-9B1D-649E05F88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2DF9EF3-F6ED-42DD-9E51-4ECCFD14BA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B86B6E-7379-4F88-A3B7-CC201E0B7C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8F91CE6-2063-442E-9BED-F5B1DA3DC5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A2ADF1-FF3B-4838-8B5E-380CA00D2D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3112EB3-BC8E-4807-A59B-DAC54822A4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73006C-0F5D-4E7C-8D25-CBA93985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58DE35-625F-46D9-BC6D-C45A08066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39ACDF-0FBE-4AF5-A2FE-7BDF283BE5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931829-4D68-4138-85C0-51C3E3F021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144027-3382-49AB-A9C8-BDBECD62C7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4A99F7-A307-4B2C-A3A2-D8BF00D033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71045D-E4F2-48A9-A5D5-41DDA4E2E9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E41378-A9B4-4D2D-840B-C56B44981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2BD61FB-60CC-4463-98BE-229ADC08A62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55F838-52A4-4CC3-9CB1-6F16BF00DC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1EDC73-1828-41B3-83F7-B1E2FB5C18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16F1B9-7C65-445B-8A83-47F1DF505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700EFA-D4DF-4675-910F-7E39C474B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068901-B17F-4E52-A228-4965D2BA0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CC369FE-F783-4018-A9CD-ADABD6162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B2CF12-B7B2-402C-B9A6-13EF29011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2A209D-0518-48A8-8801-C0F14C48C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616C5-CCDC-4F97-8D92-5C18D9E4C6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C652AE6-43C1-4084-B9E0-1BCB4D647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7ADF79-FD2C-4556-B1BE-2A84B2EEE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E9918D-5248-4CC6-BC79-1599F15505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B88295-B782-4C93-B43F-EC56FE2EC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2B4273-E3C6-4225-AFE8-FC311BC384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b209ddfefe47d5" /><Relationship Type="http://schemas.openxmlformats.org/officeDocument/2006/relationships/slideLayout" Target="/ppt/slideLayouts/slideLayout1.xml" Id="Rcdca90c8d5214919" /><Relationship Type="http://schemas.openxmlformats.org/officeDocument/2006/relationships/slideLayout" Target="/ppt/slideLayouts/slideLayout2.xml" Id="R3b0146013b204b84" /><Relationship Type="http://schemas.openxmlformats.org/officeDocument/2006/relationships/slideLayout" Target="/ppt/slideLayouts/slideLayout3.xml" Id="R90765fa6406a4687" /><Relationship Type="http://schemas.openxmlformats.org/officeDocument/2006/relationships/slideLayout" Target="/ppt/slideLayouts/slideLayout4.xml" Id="R2af0ed71a0264424" /><Relationship Type="http://schemas.openxmlformats.org/officeDocument/2006/relationships/slideLayout" Target="/ppt/slideLayouts/slideLayout5.xml" Id="R294b1fb198464867" /><Relationship Type="http://schemas.openxmlformats.org/officeDocument/2006/relationships/slideLayout" Target="/ppt/slideLayouts/slideLayout6.xml" Id="Re70198e7c35c419d" /><Relationship Type="http://schemas.openxmlformats.org/officeDocument/2006/relationships/slideLayout" Target="/ppt/slideLayouts/slideLayout7.xml" Id="Re423b36096794d49" /><Relationship Type="http://schemas.openxmlformats.org/officeDocument/2006/relationships/slideLayout" Target="/ppt/slideLayouts/slideLayout8.xml" Id="R8893300699be4af2" /><Relationship Type="http://schemas.openxmlformats.org/officeDocument/2006/relationships/slideLayout" Target="/ppt/slideLayouts/slideLayout9.xml" Id="Rfdf797a3a6674ee9" /><Relationship Type="http://schemas.openxmlformats.org/officeDocument/2006/relationships/slideLayout" Target="/ppt/slideLayouts/slideLayout10.xml" Id="R19d1765eb8b0478d" /><Relationship Type="http://schemas.openxmlformats.org/officeDocument/2006/relationships/slideLayout" Target="/ppt/slideLayouts/slideLayout11.xml" Id="Rb1a34a423b114a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39EE942-E5CC-4DC8-AAA4-A0CD44CEA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1B6872-9F71-4255-AD98-98F29F60D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99CC4F-5DBF-4B55-AAE9-034C6A5C77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495BDB-7D56-42C7-8ECD-DFA584EB74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4785BE-34B9-4EBA-B952-7C3AE08F87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ca90c8d5214919"/>
    <p:sldLayoutId xmlns:r="http://schemas.openxmlformats.org/officeDocument/2006/relationships" id="2147483650" r:id="R3b0146013b204b84"/>
    <p:sldLayoutId xmlns:r="http://schemas.openxmlformats.org/officeDocument/2006/relationships" id="2147483651" r:id="R90765fa6406a4687"/>
    <p:sldLayoutId xmlns:r="http://schemas.openxmlformats.org/officeDocument/2006/relationships" id="2147483652" r:id="R2af0ed71a0264424"/>
    <p:sldLayoutId xmlns:r="http://schemas.openxmlformats.org/officeDocument/2006/relationships" id="2147483653" r:id="R294b1fb198464867"/>
    <p:sldLayoutId xmlns:r="http://schemas.openxmlformats.org/officeDocument/2006/relationships" id="2147483654" r:id="Re70198e7c35c419d"/>
    <p:sldLayoutId xmlns:r="http://schemas.openxmlformats.org/officeDocument/2006/relationships" id="2147483655" r:id="Re423b36096794d49"/>
    <p:sldLayoutId xmlns:r="http://schemas.openxmlformats.org/officeDocument/2006/relationships" id="2147483656" r:id="R8893300699be4af2"/>
    <p:sldLayoutId xmlns:r="http://schemas.openxmlformats.org/officeDocument/2006/relationships" id="2147483657" r:id="Rfdf797a3a6674ee9"/>
    <p:sldLayoutId xmlns:r="http://schemas.openxmlformats.org/officeDocument/2006/relationships" id="2147483658" r:id="R19d1765eb8b0478d"/>
    <p:sldLayoutId xmlns:r="http://schemas.openxmlformats.org/officeDocument/2006/relationships" id="2147483659" r:id="Rb1a34a423b114ab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56c4ccce0e4e81" /><Relationship Type="http://schemas.openxmlformats.org/officeDocument/2006/relationships/notesSlide" Target="/ppt/notesSlides/notesSlide1.xml" Id="Re417d4c1a62848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939b5974c8457a" /><Relationship Type="http://schemas.openxmlformats.org/officeDocument/2006/relationships/image" Target="/ppt/media/image.jpeg" Id="R89dc054b67a54bd7" /><Relationship Type="http://schemas.openxmlformats.org/officeDocument/2006/relationships/notesSlide" Target="/ppt/notesSlides/notesSlide2.xml" Id="R00f425663d30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f49ddacd784dfb" /><Relationship Type="http://schemas.openxmlformats.org/officeDocument/2006/relationships/image" Target="/ppt/media/image2.jpeg" Id="R209b410607d14c80" /><Relationship Type="http://schemas.openxmlformats.org/officeDocument/2006/relationships/notesSlide" Target="/ppt/notesSlides/notesSlide3.xml" Id="Rd8ace589c42e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95ef7690044823" /><Relationship Type="http://schemas.openxmlformats.org/officeDocument/2006/relationships/notesSlide" Target="/ppt/notesSlides/notesSlide4.xml" Id="R3da41c816a4e4c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9b50643f764338" /><Relationship Type="http://schemas.openxmlformats.org/officeDocument/2006/relationships/notesSlide" Target="/ppt/notesSlides/notesSlide5.xml" Id="Rc83b4bf26ff7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b71eec98fc452f" /><Relationship Type="http://schemas.openxmlformats.org/officeDocument/2006/relationships/image" Target="/ppt/media/image.jpeg" Id="Rd5c4e3dd7ad4404a" /><Relationship Type="http://schemas.openxmlformats.org/officeDocument/2006/relationships/notesSlide" Target="/ppt/notesSlides/notesSlide6.xml" Id="R6b2a74a0a98c42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36ae9b12434fcb" /><Relationship Type="http://schemas.openxmlformats.org/officeDocument/2006/relationships/image" Target="/ppt/media/image3.jpeg" Id="R9f513adb4b434610" /><Relationship Type="http://schemas.openxmlformats.org/officeDocument/2006/relationships/notesSlide" Target="/ppt/notesSlides/notesSlide7.xml" Id="R8a95a39d8993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d48913509c4c3b" /><Relationship Type="http://schemas.openxmlformats.org/officeDocument/2006/relationships/notesSlide" Target="/ppt/notesSlides/notesSlide8.xml" Id="R3661a5db447345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5A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21687D-69A2-489B-A5D5-4CB4B32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85" y="2057400"/>
            <a:ext cx="6723828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600"/>
              <a:t>AI-Based Hand Fracture Detection</a:t>
            </a:r>
            <a:endParaRPr sz="3600"/>
          </a:p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t>Data Collection, Analysis &amp; Baseline Model</a:t>
            </a:r>
            <a:endParaRPr/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  <a:endParaRPr/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Progress Presentation</a:t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Department of CSE, NMAMIT</a:t>
            </a:r>
          </a:p>
        </p:txBody>
      </p:sp>
    </p:spTree>
    <p:extLst>
      <p:ext uri="{BB962C8B-B14F-4D97-AF65-F5344CB8AC3E}">
        <p14:creationId xmlns:p14="http://schemas.microsoft.com/office/powerpoint/2010/main" val="1310951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92C47A-3223-43CB-A87C-36DC694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Project scope and current progress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0CF795-EF3A-4BC8-8021-E70E991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4093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Goal: assist preliminary fracture assessment from hand X-rays.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Current task: reliable fracture vs non-fracture classification.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Completed: collection, cleaning, analysis, preprocessing and training.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Clinical decisions remain with qualified healthcare professionals.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CAB7B15-FAE1-48C7-A277-D78E6DE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00" b="1"/>
            </a:pPr>
            <a:r>
              <a:t>Current Scope</a:t>
            </a:r>
          </a:p>
          <a:p xmlns:a="http://schemas.openxmlformats.org/drawingml/2006/main">
            <a:r>
              <a:t>Binary Classification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c054b67a54b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0" y="1691639"/>
            <a:ext cx="3038492" cy="38199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313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CE9FEC-52D6-42EC-9EA7-60698525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FracAtlas provided a workable hand X-ray subset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3B01B9-5735-49AE-907C-63AB2803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3693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FracAtlas contains 4,083 labelled musculoskeletal X-rays.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Filtering hand = 1 produced 1,538 hand X-rays.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The subset contains 440 fractured and 1,098 non-fractured images.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The hand flag includes some broader upper-extremity views; manual review is required.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Original files were preserved; a separate hand-only copy was created.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8727F40-70D3-42AF-8826-781832B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00" b="1"/>
            </a:pPr>
            <a:r>
              <a:t>Real Dataset Sample</a:t>
            </a:r>
          </a:p>
          <a:p xmlns:a="http://schemas.openxmlformats.org/drawingml/2006/main">
            <a:pPr algn="ctr">
              <a:buNone/>
              <a:defRPr sz="1600" b="1"/>
            </a:pPr>
            <a:r>
              <a:t>Fractured Hand X-ray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b410607d14c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69280" y="1645920"/>
            <a:ext cx="2926080" cy="2743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07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0861D8-C350-4C5B-8C03-2DBD12B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The filtered dataset is usable—but imbalanced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B85682F-5107-4346-9EFC-779D344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9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F6A5E0-47AF-460A-959E-44D2F8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5CA649-500C-4CFA-842F-1C2665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Hand-only Dataset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86EC0A-ED37-4631-8D60-7CC28A6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39" y="2423160"/>
            <a:ext cx="333475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1,538 verified hand X-rays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D0F493-7B7F-4A8F-A7FA-ED213B8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08599-1A7A-49B8-9C94-D499A77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611144-A6FA-4126-B04D-A8DD4A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Class Balance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9D86BD-3B20-4358-9980-E552D5F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68" y="2423160"/>
            <a:ext cx="319446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440 fractured | 1,098 non-fractured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E33320-5479-4749-9B0B-6EA5C1F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7C436C-41AB-4CE4-B2BD-203848F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006207-F0E9-4989-AC08-AD7BE8A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View Labels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FA1132-DC1F-464B-838E-60B03D5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944 frontal | 597 lateral | 140 oblique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5BFBEA-8B43-492D-B1CD-79C1F71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3FFDFB-E837-4986-80DB-00C68C0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527226-A460-460F-8A17-2CF9DFD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Quality Check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1AC8FD-2BB8-40F0-B22C-16ED0B8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79" y="4160520"/>
            <a:ext cx="306583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0 unreadable images | 8 dimensions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341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0861D8-C350-4C5B-8C03-2DBD12B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Preparation created reproducible model-ready data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B85682F-5107-4346-9EFC-779D344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9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F6A5E0-47AF-460A-959E-44D2F8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5CA649-500C-4CFA-842F-1C2665B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Filter &amp; Verify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86EC0A-ED37-4631-8D60-7CC28A6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39" y="2423160"/>
            <a:ext cx="333475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hand = 1; labels and files matched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D0F493-7B7F-4A8F-A7FA-ED213B86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AB08599-1A7A-49B8-9C94-D499A77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2024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0611144-A6FA-4126-B04D-A8DD4A9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7510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Standardize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49D86BD-3B20-4358-9980-E552D5F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68" y="2423160"/>
            <a:ext cx="319446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Grayscale | 224 × 224 | padded</a:t>
            </a: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E33320-5479-4749-9B0B-6EA5C1F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C7C436C-41AB-4CE4-B2BD-203848F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8006207-F0E9-4989-AC08-AD7BE8A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Training &amp; Validation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2FA1132-DC1F-464B-838E-60B03D5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6052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1,077 training | 231 validation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85BFBEA-8B43-492D-B1CD-79C1F71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3FFDFB-E837-4986-80DB-00C68C0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34747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AA0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527226-A460-460F-8A17-2CF9DFD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712464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>
                <a:solidFill>
                  <a:srgbClr val="FFFFFF"/>
                </a:solidFill>
              </a:defRPr>
            </a:pPr>
            <a:r>
              <a:t>Hold-out Test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1AC8FD-2BB8-40F0-B22C-16ED0B83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879" y="4160520"/>
            <a:ext cx="306583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solidFill>
                  <a:srgbClr val="2D2D2D"/>
                </a:solidFill>
              </a:defRPr>
            </a:pPr>
            <a:r>
              <a:t>230 images reserved for final evaluation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8341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992C47A-3223-43CB-A87C-36DC694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Balanced transfer learning improved fracture detection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0CF795-EF3A-4BC8-8021-E70E991A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4846320" cy="4093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MobileNetV3-Small initialized with pretrained image features.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Balanced sampling exposed the model equally to both classes.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Augmentation used small rotations, shifts, scaling and horizontal flips.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Eight epochs were trained; the best validation F1 checkpoint was saved.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CAB7B15-FAE1-48C7-A277-D78E6DEB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00" b="1"/>
            </a:pPr>
            <a:r>
              <a:t>Model Input</a:t>
            </a:r>
          </a:p>
          <a:p xmlns:a="http://schemas.openxmlformats.org/drawingml/2006/main">
            <a:r>
              <a:t>224 × 224 Grayscale X-ray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4e3dd7ad440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0" y="1691639"/>
            <a:ext cx="3038492" cy="38199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31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1F916B-E0C2-4B1D-A941-9B12F20F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600" b="1">
                <a:solidFill>
                  <a:srgbClr val="185AA0"/>
                </a:solidFill>
              </a:defRPr>
            </a:pPr>
            <a:r>
              <a:t>The balanced model is a stronger—but preliminary—baseline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405450-8E5A-4059-9508-9DE31F92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846320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Test accuracy: 79.57% | fracture F1: 61.79%.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Fracture recall improved from 27.3% to 57.6% after balancing.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38 of 66 fractures detected; 28 fractures were missed.</a:t>
            </a:r>
          </a:p>
          <a:p xmlns:a="http://schemas.openxmlformats.org/drawingml/2006/main">
            <a:pPr marL="20" indent="-12">
              <a:spcAft>
                <a:spcPts val="10"/>
              </a:spcAft>
              <a:buChar char="•"/>
            </a:pPr>
            <a:r>
              <a:t>145 of 164 non-fractures were correct; 19 false alarms occurred.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CDE47ED-E80B-4351-B11C-D49B46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691640"/>
            <a:ext cx="274320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EBF8"/>
          </a:solidFill>
          <a:ln xmlns:a="http://schemas.openxmlformats.org/drawingml/2006/main">
            <a:solidFill>
              <a:srgbClr val="185AA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00" b="1"/>
            </a:pPr>
            <a:r>
              <a:t>Evaluation Summary</a:t>
            </a:r>
          </a:p>
          <a:p xmlns:a="http://schemas.openxmlformats.org/drawingml/2006/main">
            <a:pPr algn="ctr">
              <a:buNone/>
              <a:defRPr sz="1600" b="1"/>
            </a:pPr>
            <a:r>
              <a:t>Balanced Model</a:t>
            </a:r>
          </a:p>
        </p:txBody>
      </p:sp>
      <p:pic>
        <p:nvPicPr>
          <p:cNvPr id="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13adb4b4346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645920"/>
            <a:ext cx="3108960" cy="2926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800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5A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E21687D-69A2-489B-A5D5-4CB4B328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85" y="2057400"/>
            <a:ext cx="6723828" cy="3046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600"/>
              <a:t>Conclusion</a:t>
            </a:r>
            <a:endParaRPr sz="3600"/>
          </a:p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t/>
            </a:r>
            <a:endParaRPr/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A reproducible baseline is ready</a:t>
            </a:r>
            <a:endParaRPr/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/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Next: verify hand-only anatomy,</a:t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reduce missed fractures</a:t>
            </a:r>
          </a:p>
          <a:p xmlns:a="http://schemas.openxmlformats.org/drawingml/2006/main">
            <a:pPr algn="ctr">
              <a:buNone/>
              <a:defRPr sz="1800">
                <a:solidFill>
                  <a:srgbClr val="E6E6E6"/>
                </a:solidFill>
              </a:defRPr>
            </a:pPr>
            <a:r>
              <a:t>and validate on additional data</a:t>
            </a:r>
          </a:p>
        </p:txBody>
      </p:sp>
    </p:spTree>
    <p:extLst>
      <p:ext uri="{BB962C8B-B14F-4D97-AF65-F5344CB8AC3E}">
        <p14:creationId xmlns:p14="http://schemas.microsoft.com/office/powerpoint/2010/main" val="13109514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2026-09-02T17:09:15.6960000Z</dcterms:created>
  <dcterms:modified xsi:type="dcterms:W3CDTF">2026-09-02T17:09:15.6960000Z</dcterms:modified>
</coreProperties>
</file>